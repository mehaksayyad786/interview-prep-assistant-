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015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Trebuchet MS"/>
              </a:defRPr>
            </a:pPr>
            <a:r>
              <a:t>MockAI</a:t>
            </a:r>
          </a:p>
          <a:p>
            <a:pPr>
              <a:spcBef>
                <a:spcPts val="800"/>
              </a:spcBef>
              <a:defRPr sz="1800" b="1">
                <a:solidFill>
                  <a:srgbClr val="14B8A6"/>
                </a:solidFill>
                <a:latin typeface="Trebuchet MS"/>
              </a:defRPr>
            </a:pPr>
            <a:r>
              <a:t>AI-POWERED INTERVIEW PREPARATION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A full-stack Generative AI application designed to conduct adaptive mock interviews, evaluate responses in real-time with granular feedback, map syllabus weak topics, and outline personalized learning roadmaps.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MARKET &amp; PROBLEM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The Interview Preparation Dilemma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6366F1"/>
                </a:solidFill>
                <a:latin typeface="Trebuchet MS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High Anxiety: </a:t>
            </a:r>
            <a:r>
              <a:rPr sz="1500">
                <a:solidFill>
                  <a:srgbClr val="FFFFFF"/>
                </a:solidFill>
                <a:latin typeface="Arial"/>
              </a:rPr>
              <a:t>Candidates face extreme nervousness during live interviews due to lack of standard mock options.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Generic Material: </a:t>
            </a:r>
            <a:r>
              <a:rPr sz="1500">
                <a:solidFill>
                  <a:srgbClr val="FFFFFF"/>
                </a:solidFill>
                <a:latin typeface="Arial"/>
              </a:rPr>
              <a:t>Standard study platforms supply generic questions instead of role-targeted evaluations.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Blind Spots: </a:t>
            </a:r>
            <a:r>
              <a:rPr sz="1500">
                <a:solidFill>
                  <a:srgbClr val="FFFFFF"/>
                </a:solidFill>
                <a:latin typeface="Arial"/>
              </a:rPr>
              <a:t>Candidates submit answers without understanding why they are incomplete or wrong.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Vague Actions: </a:t>
            </a:r>
            <a:r>
              <a:rPr sz="1500">
                <a:solidFill>
                  <a:srgbClr val="FFFFFF"/>
                </a:solidFill>
                <a:latin typeface="Arial"/>
              </a:rPr>
              <a:t>Standard evaluations rank candidates but fail to outline a step-by-step roadmap to study.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4B8A6"/>
                </a:solidFill>
                <a:latin typeface="Trebuchet MS"/>
              </a:defRPr>
            </a:pPr>
            <a:r>
              <a:t>The Cost of Poor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Missed Career Openings: </a:t>
            </a:r>
            <a:r>
              <a:rPr sz="1500">
                <a:solidFill>
                  <a:srgbClr val="FFFFFF"/>
                </a:solidFill>
                <a:latin typeface="Arial"/>
              </a:rPr>
              <a:t>Candidates fail interviews not from a lack of technical knowledge, but due to poor response structuring.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Wasted Practice Hours: </a:t>
            </a:r>
            <a:r>
              <a:rPr sz="1500">
                <a:solidFill>
                  <a:srgbClr val="FFFFFF"/>
                </a:solidFill>
                <a:latin typeface="Arial"/>
              </a:rPr>
              <a:t>Practicing without target alignment wastes candidate time.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Delayed Feedback Loops: </a:t>
            </a:r>
            <a:r>
              <a:rPr sz="1500">
                <a:solidFill>
                  <a:srgbClr val="FFFFFF"/>
                </a:solidFill>
                <a:latin typeface="Arial"/>
              </a:rPr>
              <a:t>Traditional mock portals require manual, expensive evaluations with long turnaround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THE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MockAI: The Intelligent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Trebuchet MS"/>
              </a:defRPr>
            </a:pPr>
            <a:r>
              <a:t>Interactive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6265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Tailored Mock Sessions: </a:t>
            </a:r>
            <a:r>
              <a:rPr sz="1500">
                <a:solidFill>
                  <a:srgbClr val="FFFFFF"/>
                </a:solidFill>
                <a:latin typeface="Arial"/>
              </a:rPr>
              <a:t>Configures custom sessions for 6 core professional roles.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Hybrid Question Styles: </a:t>
            </a:r>
            <a:r>
              <a:rPr sz="1500">
                <a:solidFill>
                  <a:srgbClr val="FFFFFF"/>
                </a:solidFill>
                <a:latin typeface="Arial"/>
              </a:rPr>
              <a:t>Tests candidates using descriptive, MCQs, and fill-in-the-blank question sets.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Flexible Settings: </a:t>
            </a:r>
            <a:r>
              <a:rPr sz="1500">
                <a:solidFill>
                  <a:srgbClr val="FFFFFF"/>
                </a:solidFill>
                <a:latin typeface="Arial"/>
              </a:rPr>
              <a:t>Allows Easy, Medium, and Hard filters across technical and behavioral categories.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01168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B8A6"/>
                </a:solidFill>
                <a:latin typeface="Trebuchet MS"/>
              </a:defRPr>
            </a:pPr>
            <a:r>
              <a:t>Real-time AI Grading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651760"/>
            <a:ext cx="296265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Structured Evaluation: </a:t>
            </a:r>
            <a:r>
              <a:rPr sz="1500">
                <a:solidFill>
                  <a:srgbClr val="FFFFFF"/>
                </a:solidFill>
                <a:latin typeface="Arial"/>
              </a:rPr>
              <a:t>Generates detailed score profiles across technical, communication, and relevance metrics.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Granular Feedback: </a:t>
            </a:r>
            <a:r>
              <a:rPr sz="1500">
                <a:solidFill>
                  <a:srgbClr val="FFFFFF"/>
                </a:solidFill>
                <a:latin typeface="Arial"/>
              </a:rPr>
              <a:t>Returns specific notes explaining gaps and recommending improvements.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Instant Analytics: </a:t>
            </a:r>
            <a:r>
              <a:rPr sz="1500">
                <a:solidFill>
                  <a:srgbClr val="FFFFFF"/>
                </a:solidFill>
                <a:latin typeface="Arial"/>
              </a:rPr>
              <a:t>Eliminates waiting time with live score calculators.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01168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  <a:latin typeface="Trebuchet MS"/>
              </a:defRPr>
            </a:pPr>
            <a:r>
              <a:t>Syllabus Roadmaps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651760"/>
            <a:ext cx="296265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Weak Topic Mapping: </a:t>
            </a:r>
            <a:r>
              <a:rPr sz="1500">
                <a:solidFill>
                  <a:srgbClr val="FFFFFF"/>
                </a:solidFill>
                <a:latin typeface="Arial"/>
              </a:rPr>
              <a:t>Identifies gaps and links candidate errors to specific syllabus modules.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Interactive Checklist: </a:t>
            </a:r>
            <a:r>
              <a:rPr sz="1500">
                <a:solidFill>
                  <a:srgbClr val="FFFFFF"/>
                </a:solidFill>
                <a:latin typeface="Arial"/>
              </a:rPr>
              <a:t>Autogenerates a personalized, checkable study plan.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Session Resumption: </a:t>
            </a:r>
            <a:r>
              <a:rPr sz="1500">
                <a:solidFill>
                  <a:srgbClr val="FFFFFF"/>
                </a:solidFill>
                <a:latin typeface="Arial"/>
              </a:rPr>
              <a:t>Allows logging back in to review logs or continue incomplete mocks.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SYSTEM DESIGN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Full-Stack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React Frontend (Vite): </a:t>
            </a:r>
            <a:r>
              <a:rPr sz="1500">
                <a:solidFill>
                  <a:srgbClr val="FFFFFF"/>
                </a:solidFill>
                <a:latin typeface="Arial"/>
              </a:rPr>
              <a:t>Modern SPA using React 19, TypeScript, and TailwindCSS v4. Provides a fully-styled dark-mode dashboard with real-time state tracking.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FastAPI Backend: </a:t>
            </a:r>
            <a:r>
              <a:rPr sz="1500">
                <a:solidFill>
                  <a:srgbClr val="FFFFFF"/>
                </a:solidFill>
                <a:latin typeface="Arial"/>
              </a:rPr>
              <a:t>Python 3.13 REST API endpoints. Utilizes Pydantic schemas, dependency injection security layers, and asynchronous query routers.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MongoDB (Local Instance): </a:t>
            </a:r>
            <a:r>
              <a:rPr sz="1500">
                <a:solidFill>
                  <a:srgbClr val="FFFFFF"/>
                </a:solidFill>
                <a:latin typeface="Arial"/>
              </a:rPr>
              <a:t>Stores secure user records, candidate settings profiles, historical mock reports, and the central seeded question bank.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Google Gemini API (`gemini-1.5-flash`): </a:t>
            </a:r>
            <a:r>
              <a:rPr sz="1500">
                <a:solidFill>
                  <a:srgbClr val="FFFFFF"/>
                </a:solidFill>
                <a:latin typeface="Arial"/>
              </a:rPr>
              <a:t>Drives evaluation scoring and generates personalized improvement roadmap checklists via JSON Structured Output Mode.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411480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React Frontend</a:t>
            </a:r>
            <a:br/>
            <a:r>
              <a:t>(TypeScript + Tailwind v4)</a:t>
            </a:r>
          </a:p>
        </p:txBody>
      </p:sp>
      <p:sp>
        <p:nvSpPr>
          <p:cNvPr id="7" name="Down Arrow 6"/>
          <p:cNvSpPr/>
          <p:nvPr/>
        </p:nvSpPr>
        <p:spPr>
          <a:xfrm>
            <a:off x="8732520" y="2926080"/>
            <a:ext cx="365760" cy="36576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3383280"/>
            <a:ext cx="411480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FastAPI Backend</a:t>
            </a:r>
            <a:br/>
            <a:r>
              <a:t>(REST API Core Services)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8732520" y="4297680"/>
            <a:ext cx="365760" cy="36576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4846320"/>
            <a:ext cx="11887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Auth</a:t>
            </a:r>
            <a:br/>
            <a:r>
              <a:t>(JWT/Bcrypt)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846320"/>
            <a:ext cx="11887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Database</a:t>
            </a:r>
            <a:br/>
            <a:r>
              <a:t>(MongoDB)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4846320"/>
            <a:ext cx="11887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GenAI</a:t>
            </a:r>
            <a:br/>
            <a:r>
              <a:t>(Gemini API)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QUESTION DATABASE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Custom Seeding &amp; Structured Bank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591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Pre-Configured Seed Script: </a:t>
            </a:r>
            <a:r>
              <a:rPr sz="1500">
                <a:solidFill>
                  <a:srgbClr val="FFFFFF"/>
                </a:solidFill>
                <a:latin typeface="Arial"/>
              </a:rPr>
              <a:t>Integrates a seed utility (`questions_bank.py`) that loads on first database boot, populating MongoDB instantly with clean datasets.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540 Custom Mock Questions: </a:t>
            </a:r>
            <a:r>
              <a:rPr sz="1500">
                <a:solidFill>
                  <a:srgbClr val="FFFFFF"/>
                </a:solidFill>
                <a:latin typeface="Arial"/>
              </a:rPr>
              <a:t>Includes detailed datasets covering 6 developer roles, 3 interview styles, and 3 difficulty settings.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Granular Matrix Coverage: </a:t>
            </a:r>
            <a:r>
              <a:rPr sz="1500">
                <a:solidFill>
                  <a:srgbClr val="FFFFFF"/>
                </a:solidFill>
                <a:latin typeface="Arial"/>
              </a:rPr>
              <a:t>Divides configurations into 10 unique sheets containing 10 questions per sheet, preventing redundant questions.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Flexible Question Models: </a:t>
            </a:r>
            <a:r>
              <a:rPr sz="1500">
                <a:solidFill>
                  <a:srgbClr val="FFFFFF"/>
                </a:solidFill>
                <a:latin typeface="Arial"/>
              </a:rPr>
              <a:t>Accommodates multiple types:
   - Multiple Choice Questions (MCQ) containing 4 option tags and correct answer schemas
   - Fill-in-the-Blank (FIB) keys mapping targeted keywords
   - Comprehensive Descriptive questions requesting detailed replies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Fast Document Retrieval: </a:t>
            </a:r>
            <a:r>
              <a:rPr sz="1500">
                <a:solidFill>
                  <a:srgbClr val="FFFFFF"/>
                </a:solidFill>
                <a:latin typeface="Arial"/>
              </a:rPr>
              <a:t>Fetches active session questions directly from MongoDB matching specific setup wizard inputs, maintaining sub-millisecond retrieval speeds.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ADVANCED GENERATIVE AI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Structured AI Grading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Structured Schema Output: </a:t>
            </a:r>
            <a:r>
              <a:rPr sz="1500">
                <a:solidFill>
                  <a:srgbClr val="FFFFFF"/>
                </a:solidFill>
                <a:latin typeface="Arial"/>
              </a:rPr>
              <a:t>Commands the Gemini API using strict JSON schemas to output scores and feedback, parsing seamlessly into backend database structures.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Evaluates 3 Core Metrics: </a:t>
            </a:r>
            <a:r>
              <a:rPr sz="1500">
                <a:solidFill>
                  <a:srgbClr val="FFFFFF"/>
                </a:solidFill>
                <a:latin typeface="Arial"/>
              </a:rPr>
              <a:t>
   1. Technical Correctness (Accuracy of concepts, facts, syntax)
   2. Communication Clarity (Sentence structure, articulation quality)
   3. Answer Relevance (Direct response to constraints)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Hybrid Local Parser Fallback: </a:t>
            </a:r>
            <a:r>
              <a:rPr sz="1500">
                <a:solidFill>
                  <a:srgbClr val="FFFFFF"/>
                </a:solidFill>
                <a:latin typeface="Arial"/>
              </a:rPr>
              <a:t>Features a local fallback engine that scores answers without an API key by matching keywords (FIB), validating option keys (MCQs), and analyzing word lengths (Descriptive).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457200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194560"/>
            <a:ext cx="4206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4B8A6"/>
                </a:solidFill>
                <a:latin typeface="Trebuchet MS"/>
              </a:defRPr>
            </a:pPr>
            <a:r>
              <a:t>Gemini API Response Schema (Pydantic)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t>class AnswerEvaluation(BaseModel):</a:t>
            </a:r>
            <a:br/>
            <a:r>
              <a:t>    score_correctness: int  # 0-100</a:t>
            </a:r>
            <a:br/>
            <a:r>
              <a:t>    score_clarity: int      # 0-100</a:t>
            </a:r>
            <a:br/>
            <a:r>
              <a:t>    score_relevance: int    # 0-100</a:t>
            </a:r>
            <a:br/>
            <a:r>
              <a:t>    overall_score: int      # Average</a:t>
            </a:r>
            <a:br/>
            <a:r>
              <a:t>    feedback: str           # Detailed text</a:t>
            </a:r>
            <a:br/>
            <a:r>
              <a:t>    weak_topics: List[str]  # e.g., 'REST APIs'</a:t>
            </a:r>
            <a:br/>
            <a:r>
              <a:t>    model_answer: str       # Ideal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INTERACTIVE FRONTEND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Interactive Live Interview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591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Tailored Response Widgets: </a:t>
            </a:r>
            <a:r>
              <a:rPr sz="1500">
                <a:solidFill>
                  <a:srgbClr val="FFFFFF"/>
                </a:solidFill>
                <a:latin typeface="Arial"/>
              </a:rPr>
              <a:t>Swaps textarea blocks for 4 premium clickable option cards during MCQs, renders compact input text fields for FIBs, and opens rich text boxes for descriptive topics.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Interactive Word Suggestions: </a:t>
            </a:r>
            <a:r>
              <a:rPr sz="1500">
                <a:solidFill>
                  <a:srgbClr val="FFFFFF"/>
                </a:solidFill>
                <a:latin typeface="Arial"/>
              </a:rPr>
              <a:t>Displays dynamic helper counters recommending word targets based on difficulty (e.g. min 25 words for Technical Easy, min 50 for hard challenges).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Session State Saver: </a:t>
            </a:r>
            <a:r>
              <a:rPr sz="1500">
                <a:solidFill>
                  <a:srgbClr val="FFFFFF"/>
                </a:solidFill>
                <a:latin typeface="Arial"/>
              </a:rPr>
              <a:t>Caches progress metrics at the database tier on each submission, allowing candidates to pause or resume sessions safely.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Interactive Loader Framework: </a:t>
            </a:r>
            <a:r>
              <a:rPr sz="1500">
                <a:solidFill>
                  <a:srgbClr val="FFFFFF"/>
                </a:solidFill>
                <a:latin typeface="Arial"/>
              </a:rPr>
              <a:t>Displays loading skeletons during GenAI evaluation calls to indicate background scoring operations.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10-Question Progress Indicators: </a:t>
            </a:r>
            <a:r>
              <a:rPr sz="1500">
                <a:solidFill>
                  <a:srgbClr val="FFFFFF"/>
                </a:solidFill>
                <a:latin typeface="Arial"/>
              </a:rPr>
              <a:t>Renders real-time trackers displaying active indexes, scores, and completion progress bars.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POST-INTERVIEW ANALYTICS &amp; ROADMAPS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Granular Performance Scorecards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6366F1"/>
                </a:solidFill>
                <a:latin typeface="Trebuchet MS"/>
              </a:defRPr>
            </a:pPr>
            <a:r>
              <a:t>Analytics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Score Gauges: </a:t>
            </a:r>
            <a:r>
              <a:rPr sz="1500">
                <a:solidFill>
                  <a:srgbClr val="FFFFFF"/>
                </a:solidFill>
                <a:latin typeface="Arial"/>
              </a:rPr>
              <a:t>Circular SVG gauges trace percentage scores across correctness, clarity, and relevance.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Topic Gap Spotter: </a:t>
            </a:r>
            <a:r>
              <a:rPr sz="1500">
                <a:solidFill>
                  <a:srgbClr val="FFFFFF"/>
                </a:solidFill>
                <a:latin typeface="Arial"/>
              </a:rPr>
              <a:t>Summarizes all weak syllabus areas flagged during the interview.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Model Answer Compare: </a:t>
            </a:r>
            <a:r>
              <a:rPr sz="1500">
                <a:solidFill>
                  <a:srgbClr val="FFFFFF"/>
                </a:solidFill>
                <a:latin typeface="Arial"/>
              </a:rPr>
              <a:t>Displays user inputs alongside ideal model answers side-by-side.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4B8A6"/>
                </a:solidFill>
                <a:latin typeface="Trebuchet MS"/>
              </a:defRPr>
            </a:pPr>
            <a:r>
              <a:t>Personalized Improvement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4805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Custom Checklist Generator: </a:t>
            </a:r>
            <a:r>
              <a:rPr sz="1500">
                <a:solidFill>
                  <a:srgbClr val="FFFFFF"/>
                </a:solidFill>
                <a:latin typeface="Arial"/>
              </a:rPr>
              <a:t>Creates a customized, checkable action plan tailored to identified gaps.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Structured Roadmaps: </a:t>
            </a:r>
            <a:r>
              <a:rPr sz="1500">
                <a:solidFill>
                  <a:srgbClr val="FFFFFF"/>
                </a:solidFill>
                <a:latin typeface="Arial"/>
              </a:rPr>
              <a:t>Aggregates questions failed, maps them to syllabus concepts, and outputs step-by-step reading roadmaps.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Database History Tracker: </a:t>
            </a:r>
            <a:r>
              <a:rPr sz="1500">
                <a:solidFill>
                  <a:srgbClr val="FFFFFF"/>
                </a:solidFill>
                <a:latin typeface="Arial"/>
              </a:rPr>
              <a:t>Saves completed scorecard reports to the profile timeline for tracking performance curves.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REST API SYSTEM SPECS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Comprehensive Unified API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591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Authentication Controllers: </a:t>
            </a:r>
            <a:r>
              <a:rPr sz="1500">
                <a:solidFill>
                  <a:srgbClr val="FFFFFF"/>
                </a:solidFill>
                <a:latin typeface="Arial"/>
              </a:rPr>
              <a:t>Handles user management:
   - `POST /api/auth/register` (creates new profiles)
   - `POST /api/auth/login` (authenticates credentials and returns JWT bearer tokens)
   - `GET /api/auth/me` (verifies session tokens)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Profile Integrations: </a:t>
            </a:r>
            <a:r>
              <a:rPr sz="1500">
                <a:solidFill>
                  <a:srgbClr val="FFFFFF"/>
                </a:solidFill>
                <a:latin typeface="Arial"/>
              </a:rPr>
              <a:t>Manages settings:
   - `GET /api/profile` (fetches educational tags, role metrics, and custom skills)
   - `PUT /api/profile` (updates experience level settings and interactive tag selections)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Interview Lifecycle Handlers: </a:t>
            </a:r>
            <a:r>
              <a:rPr sz="1500">
                <a:solidFill>
                  <a:srgbClr val="FFFFFF"/>
                </a:solidFill>
                <a:latin typeface="Arial"/>
              </a:rPr>
              <a:t>Controls mock progress:
   - `POST /api/interview/start` (creates active sessions and returns database UUIDs)
   - `GET /api/interview/question/{id}` (retrieves the active question index)
   - `POST /api/interview/answer/{id}` (processes inputs and compiles intermediate scoring summaries)
   - `POST /api/interview/complete/{id}` (aggregates weak areas and builds personalized roadmaps)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Log Reports Query Engine: </a:t>
            </a:r>
            <a:r>
              <a:rPr sz="1500">
                <a:solidFill>
                  <a:srgbClr val="FFFFFF"/>
                </a:solidFill>
                <a:latin typeface="Arial"/>
              </a:rPr>
              <a:t>Manages historical data:
   - `GET /api/history` (gathers completed session records for profile widgets)
   - `GET /api/results/{id}` (retrieves full scorecard details)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Trebuchet MS"/>
              </a:defRPr>
            </a:pPr>
            <a:r>
              <a:t>THE DEVELOPMENT PATH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Future Roadmap &amp; Technical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72591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Voice-to-Text Integration: </a:t>
            </a:r>
            <a:r>
              <a:rPr sz="1500">
                <a:solidFill>
                  <a:srgbClr val="FFFFFF"/>
                </a:solidFill>
                <a:latin typeface="Arial"/>
              </a:rPr>
              <a:t>Incorporate browser-native Web Speech API tools to allow candidates to speak answers, grading speech-to-text transcriptions for grammar and tone.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AI Resume Parser API: </a:t>
            </a:r>
            <a:r>
              <a:rPr sz="1500">
                <a:solidFill>
                  <a:srgbClr val="FFFFFF"/>
                </a:solidFill>
                <a:latin typeface="Arial"/>
              </a:rPr>
              <a:t>Create standard backend parsing modules (using PyMuPDF and LLMs) to upload PDF resumes and auto-populate candidate profile tags and skill selectors.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Video Engagement Analytics: </a:t>
            </a:r>
            <a:r>
              <a:rPr sz="1500">
                <a:solidFill>
                  <a:srgbClr val="FFFFFF"/>
                </a:solidFill>
                <a:latin typeface="Arial"/>
              </a:rPr>
              <a:t>Implement client-side webcam analysis to track eye focus, speech pacing, and expression profiles, delivering non-verbal behavior dashboards.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Collaborative Mock Rooms: </a:t>
            </a:r>
            <a:r>
              <a:rPr sz="1500">
                <a:solidFill>
                  <a:srgbClr val="FFFFFF"/>
                </a:solidFill>
                <a:latin typeface="Arial"/>
              </a:rPr>
              <a:t>Develop real-time peer review mock modules using WebSocket backends, enabling team dashboards for classrooms and recruiting panels.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B8A6"/>
                </a:solidFill>
                <a:latin typeface="Arial"/>
              </a:rPr>
              <a:t>•  Enterprise Dashboard Core: </a:t>
            </a:r>
            <a:r>
              <a:rPr sz="1500">
                <a:solidFill>
                  <a:srgbClr val="FFFFFF"/>
                </a:solidFill>
                <a:latin typeface="Arial"/>
              </a:rPr>
              <a:t>Scale database schemas to support recruiter dashboards, allowing universities and coding bootcamps to track collective training graphs.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